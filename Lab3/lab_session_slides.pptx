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i03AaQpEye6fN4iVcJgWnl79y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826921f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c826921f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c826921fb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8f8a97c50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c8f8a97c50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c8f8a97c50_1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8f8a97c50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c8f8a97c50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c8f8a97c50_1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8f8a97c50_1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c8f8a97c50_1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c8f8a97c50_1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lab.research.google.com/drive/1amJda1uGPgNiHWj9z6zKfg4EdrtBxUyY#scrollTo=A7tZdSIfQZTf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olab.research.google.com/drive/11aryZngIBtBV7iwrBMgwtJccXGvOHhno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lab.research.google.com/drive/1R1rmbfjSUc9OGri7Fqr2ZG5kdouODNkA#scrollTo=confused-ozone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826921fb3_0_0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c826921fb3_0_0"/>
          <p:cNvSpPr/>
          <p:nvPr/>
        </p:nvSpPr>
        <p:spPr>
          <a:xfrm>
            <a:off x="548640" y="10515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3rd ML Lab Session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c826921fb3_0_0"/>
          <p:cNvSpPr/>
          <p:nvPr/>
        </p:nvSpPr>
        <p:spPr>
          <a:xfrm>
            <a:off x="548640" y="187452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Preprocessing • scikit‑learn pipeline • Linear regression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c826921fb3_0_0"/>
          <p:cNvSpPr/>
          <p:nvPr/>
        </p:nvSpPr>
        <p:spPr>
          <a:xfrm>
            <a:off x="548640" y="2743200"/>
            <a:ext cx="5669400" cy="3383400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3c826921fb3_0_0"/>
          <p:cNvSpPr/>
          <p:nvPr/>
        </p:nvSpPr>
        <p:spPr>
          <a:xfrm>
            <a:off x="6492240" y="2743200"/>
            <a:ext cx="5150700" cy="33834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c826921fb3_0_0"/>
          <p:cNvSpPr/>
          <p:nvPr/>
        </p:nvSpPr>
        <p:spPr>
          <a:xfrm>
            <a:off x="777240" y="2971800"/>
            <a:ext cx="52122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Today we will work through three notebooks, build intuition, and leave with runnable templates.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c826921fb3_0_0"/>
          <p:cNvSpPr/>
          <p:nvPr/>
        </p:nvSpPr>
        <p:spPr>
          <a:xfrm>
            <a:off x="6720840" y="2971800"/>
            <a:ext cx="49221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Notebooks: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ml03-warmup.ipynb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ml03-linreg.ipynb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ml03-exercise.ipynb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3c826921fb3_0_0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g3c826921fb3_0_0"/>
          <p:cNvSpPr/>
          <p:nvPr/>
        </p:nvSpPr>
        <p:spPr>
          <a:xfrm>
            <a:off x="548640" y="6638544"/>
            <a:ext cx="11094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Lab overview slides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351215" y="1828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we’ll do</a:t>
            </a:r>
            <a:endParaRPr b="1" i="0" sz="3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48650" y="1325877"/>
            <a:ext cx="5806500" cy="25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48651" y="1325877"/>
            <a:ext cx="109800" cy="2538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7724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1) ml03-warmup.ipynb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68675" y="1965955"/>
            <a:ext cx="53034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Introduces Ridge Linear Regression with a small dataset (murders.txt)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Shows train/test split and feature normalization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Implements ridge solution manually using formulas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Uses LOOCV to select the best regularization parameter λ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629400" y="1325874"/>
            <a:ext cx="5013600" cy="272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629400" y="1325874"/>
            <a:ext cx="109800" cy="27282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858000" y="1463040"/>
            <a:ext cx="46936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2) ml03-linreg.ipynb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949450" y="1965944"/>
            <a:ext cx="4510800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Real dataset: Life Expectancy prediction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(EDA): distributions, missing values, categorical issues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Preprocessing pipelines (minimal vs more complete)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Linear, Lasso and Ridge regression comparison with cross-validation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629400" y="4206176"/>
            <a:ext cx="50136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29400" y="4206176"/>
            <a:ext cx="109800" cy="16917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858000" y="4309750"/>
            <a:ext cx="4693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3) ml03-exercise.ipynb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949450" y="4738025"/>
            <a:ext cx="45108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Hands-on exercise using the bodyfat dataset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Optional advanced task with Life Expectancy data</a:t>
            </a:r>
            <a:endParaRPr b="0" i="0" sz="16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2093350" y="4852763"/>
            <a:ext cx="3485100" cy="554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/>
              <a:t>https://shorturl.at/FPsfG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631" y="4738025"/>
            <a:ext cx="876726" cy="78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351215" y="1828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Notebook 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48640" y="11430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File: ml03-warmup.ipynb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59" y="1463050"/>
            <a:ext cx="110943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1463040"/>
            <a:ext cx="109728" cy="4572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77240" y="1600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Core steps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68670" y="2103125"/>
            <a:ext cx="103230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This warm-up notebook focuses on understanding how regularization works mathematically. Instead of relying only on sklearn, it shows the ridge regression solution explicitly: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See how λ controls overfitting by shrinking coefficients.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Data is normalized first, highlighting good preprocessing practice.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LOOCV is used to select the best λ, linking theory with evaluation.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main goal is intuition: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👉 how regularization stabilizes linear regression and prevents large coefficients.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9177" y="5296749"/>
            <a:ext cx="1517957" cy="8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8f8a97c50_1_13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c8f8a97c50_1_13"/>
          <p:cNvSpPr/>
          <p:nvPr/>
        </p:nvSpPr>
        <p:spPr>
          <a:xfrm>
            <a:off x="8351215" y="18288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c8f8a97c50_1_13"/>
          <p:cNvSpPr/>
          <p:nvPr/>
        </p:nvSpPr>
        <p:spPr>
          <a:xfrm>
            <a:off x="548640" y="54864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Notebook 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c8f8a97c50_1_13"/>
          <p:cNvSpPr/>
          <p:nvPr/>
        </p:nvSpPr>
        <p:spPr>
          <a:xfrm>
            <a:off x="548640" y="1143000"/>
            <a:ext cx="1109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File: ml03-linreg.ipynb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c8f8a97c50_1_13"/>
          <p:cNvSpPr/>
          <p:nvPr/>
        </p:nvSpPr>
        <p:spPr>
          <a:xfrm>
            <a:off x="548659" y="1463050"/>
            <a:ext cx="110943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c8f8a97c50_1_13"/>
          <p:cNvSpPr/>
          <p:nvPr/>
        </p:nvSpPr>
        <p:spPr>
          <a:xfrm>
            <a:off x="548640" y="1463040"/>
            <a:ext cx="109800" cy="4572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c8f8a97c50_1_13"/>
          <p:cNvSpPr/>
          <p:nvPr/>
        </p:nvSpPr>
        <p:spPr>
          <a:xfrm>
            <a:off x="777240" y="16002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Core steps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c8f8a97c50_1_13"/>
          <p:cNvSpPr/>
          <p:nvPr/>
        </p:nvSpPr>
        <p:spPr>
          <a:xfrm>
            <a:off x="868670" y="2103125"/>
            <a:ext cx="103230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This is the core lab notebook to move from toy examples to real messy data.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Real datasets require cleaning: NaNs, categories, scaling.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Different preprocessing strategies lead to different results.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Linear regression variants (OLS, Ridge, Lasso) illustrate: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regularization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feature selection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This notebook connects: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👉 theory (linear models) → real ML workflow.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c8f8a97c50_1_13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g3c8f8a97c50_1_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9177" y="5296749"/>
            <a:ext cx="1517957" cy="8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f8a97c50_1_55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c8f8a97c50_1_55"/>
          <p:cNvSpPr/>
          <p:nvPr/>
        </p:nvSpPr>
        <p:spPr>
          <a:xfrm>
            <a:off x="8351215" y="18288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c8f8a97c50_1_55"/>
          <p:cNvSpPr/>
          <p:nvPr/>
        </p:nvSpPr>
        <p:spPr>
          <a:xfrm>
            <a:off x="548640" y="54864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Notebook 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c8f8a97c50_1_55"/>
          <p:cNvSpPr/>
          <p:nvPr/>
        </p:nvSpPr>
        <p:spPr>
          <a:xfrm>
            <a:off x="548640" y="1143000"/>
            <a:ext cx="1109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File: ml03-linreg.ipynb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c8f8a97c50_1_55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g3c8f8a97c50_1_55" title="cross_valida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6138" y="1500188"/>
            <a:ext cx="5419725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f8a97c50_1_27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c8f8a97c50_1_27"/>
          <p:cNvSpPr/>
          <p:nvPr/>
        </p:nvSpPr>
        <p:spPr>
          <a:xfrm>
            <a:off x="8351215" y="18288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c8f8a97c50_1_27"/>
          <p:cNvSpPr/>
          <p:nvPr/>
        </p:nvSpPr>
        <p:spPr>
          <a:xfrm>
            <a:off x="548640" y="54864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Notebook 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c8f8a97c50_1_27"/>
          <p:cNvSpPr/>
          <p:nvPr/>
        </p:nvSpPr>
        <p:spPr>
          <a:xfrm>
            <a:off x="548640" y="1143000"/>
            <a:ext cx="1109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File: ml03-exercise.ipynb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c8f8a97c50_1_27"/>
          <p:cNvSpPr/>
          <p:nvPr/>
        </p:nvSpPr>
        <p:spPr>
          <a:xfrm>
            <a:off x="548659" y="1463050"/>
            <a:ext cx="110943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c8f8a97c50_1_27"/>
          <p:cNvSpPr/>
          <p:nvPr/>
        </p:nvSpPr>
        <p:spPr>
          <a:xfrm>
            <a:off x="548640" y="1463040"/>
            <a:ext cx="109800" cy="4572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c8f8a97c50_1_27"/>
          <p:cNvSpPr/>
          <p:nvPr/>
        </p:nvSpPr>
        <p:spPr>
          <a:xfrm>
            <a:off x="777240" y="16002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Core steps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c8f8a97c50_1_27"/>
          <p:cNvSpPr/>
          <p:nvPr/>
        </p:nvSpPr>
        <p:spPr>
          <a:xfrm>
            <a:off x="868670" y="2103125"/>
            <a:ext cx="103230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This notebook is meant as an active exercise.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You must: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inspect the data visually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identify strange samples or outliers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improve performance through preprocessing decisions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The learning objective is: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685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👉 understanding that linear regression is very sensitive to outliers and data quality.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c8f8a97c50_1_27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c8f8a97c50_1_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9177" y="5296749"/>
            <a:ext cx="1517957" cy="8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8351215" y="18288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548640" y="54864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Useful references (papers)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548640" y="1417320"/>
            <a:ext cx="11094300" cy="475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1051572" y="1645922"/>
            <a:ext cx="10088700" cy="42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Hoerl, A. E., &amp; Kennard, R. W. (1970). “Ridge Regression: Biased Estimation for Nonorthogonal Problems.” Technometrics.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Tibshirani, R. (1996). “Regression Shrinkage and Selection via the Lasso.” Journal of the Royal Statistical Society: Series B.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Hastie, T., Tibshirani, R., &amp; Friedman, J. (2009). “The Elements of Statistical Learning: Data Mining, Inference, and Prediction.” Springer.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Ng, A. Y. (2004). “Feature Selection, L1 vs. L2 Regularization, and Rotational Invariance.” Proceedings of the Twenty-First International Conference on Machine Learning.</a:t>
            </a:r>
            <a:endParaRPr b="0" i="0" sz="18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48640" y="6638544"/>
            <a:ext cx="11094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2026-02-13T08:39:30Z</dcterms:created>
  <dc:creator>PptxGenJS</dc:creator>
</cp:coreProperties>
</file>